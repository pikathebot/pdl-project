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849dbf1-5414-1b18-6ab6-2d2508892025}">
          <p14:sldIdLst>
            <p14:sldId id="256"/>
            <p14:sldId id="257"/>
          </p14:sldIdLst>
        </p14:section>
        <p14:section name="Problem" id="{9e9b56bd-6945-9c1d-a25e-6caef59ff5d0}">
          <p14:sldIdLst>
            <p14:sldId id="258"/>
            <p14:sldId id="259"/>
          </p14:sldIdLst>
        </p14:section>
        <p14:section name="Solution" id="{2a9ac20f-cbf2-bd50-028c-c88bff53e507}">
          <p14:sldIdLst>
            <p14:sldId id="260"/>
            <p14:sldId id="261"/>
          </p14:sldIdLst>
        </p14:section>
        <p14:section name="Design" id="{400a01c7-017c-bcbb-6348-0343dada3415}">
          <p14:sldIdLst>
            <p14:sldId id="262"/>
            <p14:sldId id="263"/>
            <p14:sldId id="264"/>
            <p14:sldId id="265"/>
          </p14:sldIdLst>
        </p14:section>
        <p14:section name="Implementation" id="{425c3dbc-33c2-b3d6-cdb8-03ed5a2a0e3c}">
          <p14:sldIdLst>
            <p14:sldId id="266"/>
          </p14:sldIdLst>
        </p14:section>
        <p14:section name="Demo" id="{5f4fb917-df81-b47a-2931-a361c0006065}">
          <p14:sldIdLst>
            <p14:sldId id="267"/>
            <p14:sldId id="268"/>
            <p14:sldId id="269"/>
          </p14:sldIdLst>
        </p14:section>
        <p14:section name="Results" id="{4a297702-6a60-00c6-02fa-f9860b447416}">
          <p14:sldIdLst>
            <p14:sldId id="270"/>
            <p14:sldId id="271"/>
          </p14:sldIdLst>
        </p14:section>
        <p14:section name="Conclusion" id="{d85f6886-8e5d-3253-b382-7ef5b62f450d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FFFFF"/>
                </a:solidFill>
                <a:latin typeface="+mn-lt"/>
              </a:rPr>
              <a:t>111 automated tests — all passing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End-to-end (Playwright)</c:v>
                  </c:pt>
                  <c:pt idx="1">
                    <c:v>Frontend unit (Vitest)</c:v>
                  </c:pt>
                  <c:pt idx="2">
                    <c:v>Backend + AI (pytest)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45</c:v>
                </c:pt>
                <c:pt idx="2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guide. One line pitch: Sentinel lets any citizen report a hazard with photo, voice and GPS, and uses AI to verify, de-duplicate and prioritise reports so dispatchers can send the nearest responder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minute between noticing a hazard and dispatching a responder matters. The existing channel loses evidence, location accuracy and time to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SENTINEL  ·  PDL-2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te"/>
          <p:cNvSpPr/>
          <p:nvPr/>
        </p:nvSpPr>
        <p:spPr>
          <a:xfrm>
            <a:off x="548640" y="457200"/>
            <a:ext cx="685800" cy="82296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pic>
        <p:nvPicPr>
          <p:cNvPr id="3" name="college logo" descr="D:\scripting\PDL-Project\deliverables\assets\misc\rm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84632"/>
            <a:ext cx="576072" cy="7680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669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R.M.K. ENGINEERING COLLEGE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AI-Powered Citizen Incident Reporting and Intelligent Emergency Dispatch System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Team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Latheshkumar S  (111724102105)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Madesh S  (111724102108)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Jeffrin A  (111724102083)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Kamalesh Balaji D N  (111724102089)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Guided by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Ms. Sumitha 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Assistant Professor, CSE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24ME511 Product Development Lab – 2  ·  Final Review  ·  October 2026</a:t>
            </a:r>
            <a:endParaRPr lang="en-US" sz="1200" dirty="0"/>
          </a:p>
        </p:txBody>
      </p:sp>
      <p:sp>
        <p:nvSpPr>
          <p:cNvPr id="10" name="dashboard preview frame"/>
          <p:cNvSpPr/>
          <p:nvPr/>
        </p:nvSpPr>
        <p:spPr>
          <a:xfrm>
            <a:off x="6483096" y="1545336"/>
            <a:ext cx="5230368" cy="3310128"/>
          </a:xfrm>
          <a:prstGeom prst="roundRect">
            <a:avLst>
              <a:gd name="adj" fmla="val 22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dashboard preview" descr="D:\scripting\PDL-Project\deliverables\assets\screens\05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5120640" cy="3200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Live dispatcher dashboard — Chennai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agenda 1"/>
          <p:cNvSpPr/>
          <p:nvPr/>
        </p:nvSpPr>
        <p:spPr>
          <a:xfrm>
            <a:off x="548640" y="1371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36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36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Problem &amp; motivation</a:t>
            </a:r>
            <a:endParaRPr lang="en-US" sz="1800" dirty="0"/>
          </a:p>
        </p:txBody>
      </p:sp>
      <p:sp>
        <p:nvSpPr>
          <p:cNvPr id="6" name="agenda 2"/>
          <p:cNvSpPr/>
          <p:nvPr/>
        </p:nvSpPr>
        <p:spPr>
          <a:xfrm>
            <a:off x="6172200" y="1371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36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536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Existing vs proposed system</a:t>
            </a:r>
            <a:endParaRPr lang="en-US" sz="1800" dirty="0"/>
          </a:p>
        </p:txBody>
      </p:sp>
      <p:sp>
        <p:nvSpPr>
          <p:cNvPr id="9" name="agenda 3"/>
          <p:cNvSpPr/>
          <p:nvPr/>
        </p:nvSpPr>
        <p:spPr>
          <a:xfrm>
            <a:off x="548640" y="2514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79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679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Literature survey</a:t>
            </a:r>
            <a:endParaRPr lang="en-US" sz="1800" dirty="0"/>
          </a:p>
        </p:txBody>
      </p:sp>
      <p:sp>
        <p:nvSpPr>
          <p:cNvPr id="12" name="agenda 4"/>
          <p:cNvSpPr/>
          <p:nvPr/>
        </p:nvSpPr>
        <p:spPr>
          <a:xfrm>
            <a:off x="6172200" y="2514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679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79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System architecture</a:t>
            </a:r>
            <a:endParaRPr lang="en-US" sz="1800" dirty="0"/>
          </a:p>
        </p:txBody>
      </p:sp>
      <p:sp>
        <p:nvSpPr>
          <p:cNvPr id="15" name="agenda 5"/>
          <p:cNvSpPr/>
          <p:nvPr/>
        </p:nvSpPr>
        <p:spPr>
          <a:xfrm>
            <a:off x="548640" y="3657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22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822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 pipeline &amp; algorithms</a:t>
            </a:r>
            <a:endParaRPr lang="en-US" sz="1800" dirty="0"/>
          </a:p>
        </p:txBody>
      </p:sp>
      <p:sp>
        <p:nvSpPr>
          <p:cNvPr id="18" name="agenda 6"/>
          <p:cNvSpPr/>
          <p:nvPr/>
        </p:nvSpPr>
        <p:spPr>
          <a:xfrm>
            <a:off x="6172200" y="3657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822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822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Implementation &amp; tech stack</a:t>
            </a:r>
            <a:endParaRPr lang="en-US" sz="1800" dirty="0"/>
          </a:p>
        </p:txBody>
      </p:sp>
      <p:sp>
        <p:nvSpPr>
          <p:cNvPr id="21" name="agenda 7"/>
          <p:cNvSpPr/>
          <p:nvPr/>
        </p:nvSpPr>
        <p:spPr>
          <a:xfrm>
            <a:off x="548640" y="4800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965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965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Live demo screens</a:t>
            </a:r>
            <a:endParaRPr lang="en-US" sz="1800" dirty="0"/>
          </a:p>
        </p:txBody>
      </p:sp>
      <p:sp>
        <p:nvSpPr>
          <p:cNvPr id="24" name="agenda 8"/>
          <p:cNvSpPr/>
          <p:nvPr/>
        </p:nvSpPr>
        <p:spPr>
          <a:xfrm>
            <a:off x="6172200" y="4800600"/>
            <a:ext cx="544068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9651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4965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Results, testing &amp; future work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Emergency reporting still runs on voice calls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When a citizen sees a fire, accident or flooded road, the only option is to call 100, 101, 108 or 112 and describe it.</a:t>
            </a:r>
            <a:endParaRPr lang="en-US" sz="1600" dirty="0"/>
          </a:p>
        </p:txBody>
      </p:sp>
      <p:sp>
        <p:nvSpPr>
          <p:cNvPr id="4" name="problem 1"/>
          <p:cNvSpPr/>
          <p:nvPr/>
        </p:nvSpPr>
        <p:spPr>
          <a:xfrm>
            <a:off x="548640" y="1920240"/>
            <a:ext cx="2633472" cy="35661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5" name="problem icon 1 circle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oble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3454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No visual evidence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phone call cannot carry a photo or video, so severity is guessed from a panicking caller’s words.</a:t>
            </a:r>
            <a:endParaRPr lang="en-US" sz="1500" dirty="0"/>
          </a:p>
        </p:txBody>
      </p:sp>
      <p:sp>
        <p:nvSpPr>
          <p:cNvPr id="9" name="problem 2"/>
          <p:cNvSpPr/>
          <p:nvPr/>
        </p:nvSpPr>
        <p:spPr>
          <a:xfrm>
            <a:off x="3364992" y="1920240"/>
            <a:ext cx="2633472" cy="35661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0" name="problem icon 2 circle"/>
          <p:cNvSpPr/>
          <p:nvPr/>
        </p:nvSpPr>
        <p:spPr>
          <a:xfrm>
            <a:off x="3639312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problem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23454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3063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Vague locations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“Near the signal by the temple” — operators interpret landmarks and responders search for the spot.</a:t>
            </a:r>
            <a:endParaRPr lang="en-US" sz="1500" dirty="0"/>
          </a:p>
        </p:txBody>
      </p:sp>
      <p:sp>
        <p:nvSpPr>
          <p:cNvPr id="14" name="problem 3"/>
          <p:cNvSpPr/>
          <p:nvPr/>
        </p:nvSpPr>
        <p:spPr>
          <a:xfrm>
            <a:off x="6181344" y="1920240"/>
            <a:ext cx="2633472" cy="35661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5" name="problem icon 3 circle"/>
          <p:cNvSpPr/>
          <p:nvPr/>
        </p:nvSpPr>
        <p:spPr>
          <a:xfrm>
            <a:off x="6455664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roblem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3454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55664" y="3063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Duplicate reports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455664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One visible fire at T. Nagar triggers dozens of calls, each handled as a brand-new case.</a:t>
            </a:r>
            <a:endParaRPr lang="en-US" sz="1500" dirty="0"/>
          </a:p>
        </p:txBody>
      </p:sp>
      <p:sp>
        <p:nvSpPr>
          <p:cNvPr id="19" name="problem 4"/>
          <p:cNvSpPr/>
          <p:nvPr/>
        </p:nvSpPr>
        <p:spPr>
          <a:xfrm>
            <a:off x="8997696" y="1920240"/>
            <a:ext cx="2633472" cy="35661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20" name="problem icon 4 circle"/>
          <p:cNvSpPr/>
          <p:nvPr/>
        </p:nvSpPr>
        <p:spPr>
          <a:xfrm>
            <a:off x="9272016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problem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23454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2016" y="3063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Manual prioritisation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3794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Calls are served in arrival order, not by severity; finding the nearest unit relies on memory.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Existing system vs Sentinel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20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(proposed)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call to a helpline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form: category, text, photo, video, voice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Verbal landmark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GPS from the phone, EXIF cross-check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on images &amp; video keyframes, Whisper on voice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call is a new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Union-Find merges reports ≤200 m, ≤2 h, similar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come, first served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score: severity, corroboration, wait, 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memory + radio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k-d tree nearest available responder, one click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feedback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people call again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ID with 7-stage live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Sentinel in three steps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417320"/>
            <a:ext cx="3383280" cy="3840480"/>
          </a:xfrm>
          <a:prstGeom prst="roundRect">
            <a:avLst>
              <a:gd name="adj" fmla="val 3243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82880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851" y="19184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1. Report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Citizen picks a hazard type, describes it, attaches photo / video / voice and shares GPS. Gets a tracking ID instantly.</a:t>
            </a:r>
            <a:endParaRPr lang="en-US" sz="1500" dirty="0"/>
          </a:p>
        </p:txBody>
      </p:sp>
      <p:sp>
        <p:nvSpPr>
          <p:cNvPr id="8" name="arrow 1"/>
          <p:cNvSpPr/>
          <p:nvPr/>
        </p:nvSpPr>
        <p:spPr>
          <a:xfrm>
            <a:off x="4005072" y="3154680"/>
            <a:ext cx="310896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step 2"/>
          <p:cNvSpPr/>
          <p:nvPr/>
        </p:nvSpPr>
        <p:spPr>
          <a:xfrm>
            <a:off x="4389120" y="1417320"/>
            <a:ext cx="3383280" cy="3840480"/>
          </a:xfrm>
          <a:prstGeom prst="roundRect">
            <a:avLst>
              <a:gd name="adj" fmla="val 3243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66928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3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2. AI triage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3832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Vision, EXIF, speech and a local LLM analyse the report; duplicates are merged and a priority score is assigned.</a:t>
            </a:r>
            <a:endParaRPr lang="en-US" sz="1500" dirty="0"/>
          </a:p>
        </p:txBody>
      </p:sp>
      <p:sp>
        <p:nvSpPr>
          <p:cNvPr id="14" name="arrow 2"/>
          <p:cNvSpPr/>
          <p:nvPr/>
        </p:nvSpPr>
        <p:spPr>
          <a:xfrm>
            <a:off x="7845552" y="3154680"/>
            <a:ext cx="310896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step 3"/>
          <p:cNvSpPr/>
          <p:nvPr/>
        </p:nvSpPr>
        <p:spPr>
          <a:xfrm>
            <a:off x="8229600" y="1417320"/>
            <a:ext cx="3383280" cy="3840480"/>
          </a:xfrm>
          <a:prstGeom prst="roundRect">
            <a:avLst>
              <a:gd name="adj" fmla="val 3243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976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811" y="191841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3. Dispatch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3832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Dispatcher sees a live map and priority queue, gets the nearest available responders, and dispatches in one click.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Report to verified, prioritised incident in ≈ 7 seconds on a single laptop GPU — no cloud AI, citizen data stays local.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Literature survey — what we build 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how Sentinel uses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Sakaki et al., WWW 2010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Citizens as real-time sensors detect events faster than official channels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posts, no precise GPS, no dispatch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Imran et al., ACM CSUR 2015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data suffers from overload and duplicates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integrated with responder tools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 / Ofli et al., 2018–20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+ text together describe damage better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classification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Redmon et al., CVPR 2016 (YOLO)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Single-pass real-time object detection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media evidence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Radford et al., ICML 2023 (Whisper)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multilingual speech recognition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voice notes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Reimers &amp; Gurevych, EMNLP 2019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embeddings for semantic similarity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duplicate detection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Bentley, CACM 1975 (k-d tree)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nearest-neighbour search in 2-D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5F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responder lookup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diagram plate"/>
          <p:cNvSpPr/>
          <p:nvPr/>
        </p:nvSpPr>
        <p:spPr>
          <a:xfrm>
            <a:off x="548640" y="1234440"/>
            <a:ext cx="813816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/>
        </p:spPr>
      </p:sp>
      <p:pic>
        <p:nvPicPr>
          <p:cNvPr id="4" name="architecture diagram" descr="D:\scripting\PDL-Project\deliverables\assets\diagrams\fig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7863840" cy="427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61120" y="128016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Client tier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Citizen PWA + dispatcher dashboard (React, Leaflet)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2542032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Application tier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FastAPI REST + JWT, WebSocket live feed, k-d tree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3803904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 tier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PostgreSQL + PostGIS, Redis broker, media store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506577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tier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Celery worker: vision → EXIF → speech → LLM → embed → dedup → priority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AI pipeline — every report, every model, honestly recorded</a:t>
            </a:r>
            <a:endParaRPr lang="en-US" sz="3000" dirty="0"/>
          </a:p>
        </p:txBody>
      </p:sp>
      <p:sp>
        <p:nvSpPr>
          <p:cNvPr id="3" name="pipeline step 1"/>
          <p:cNvSpPr/>
          <p:nvPr/>
        </p:nvSpPr>
        <p:spPr>
          <a:xfrm>
            <a:off x="5486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pipeline icon 1 circle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pipelin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8425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YOLOv8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Objects in photos &amp; 3 video keyframes</a:t>
            </a:r>
            <a:endParaRPr lang="en-US" sz="1250" dirty="0"/>
          </a:p>
        </p:txBody>
      </p:sp>
      <p:sp>
        <p:nvSpPr>
          <p:cNvPr id="8" name="pipeline step 2"/>
          <p:cNvSpPr/>
          <p:nvPr/>
        </p:nvSpPr>
        <p:spPr>
          <a:xfrm>
            <a:off x="21488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9" name="pipeline icon 2 circle"/>
          <p:cNvSpPr/>
          <p:nvPr/>
        </p:nvSpPr>
        <p:spPr>
          <a:xfrm>
            <a:off x="251460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pipelin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18425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402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EXIF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2585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Photo GPS/time vs reported spot</a:t>
            </a:r>
            <a:endParaRPr lang="en-US" sz="1250" dirty="0"/>
          </a:p>
        </p:txBody>
      </p:sp>
      <p:sp>
        <p:nvSpPr>
          <p:cNvPr id="13" name="pipeline step 3"/>
          <p:cNvSpPr/>
          <p:nvPr/>
        </p:nvSpPr>
        <p:spPr>
          <a:xfrm>
            <a:off x="37490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4" name="pipeline icon 3 circle"/>
          <p:cNvSpPr/>
          <p:nvPr/>
        </p:nvSpPr>
        <p:spPr>
          <a:xfrm>
            <a:off x="411480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pipelin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18425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Whisper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587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Voice note → text</a:t>
            </a:r>
            <a:endParaRPr lang="en-US" sz="1250" dirty="0"/>
          </a:p>
        </p:txBody>
      </p:sp>
      <p:sp>
        <p:nvSpPr>
          <p:cNvPr id="18" name="pipeline step 4"/>
          <p:cNvSpPr/>
          <p:nvPr/>
        </p:nvSpPr>
        <p:spPr>
          <a:xfrm>
            <a:off x="53492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9" name="pipeline icon 4 circle"/>
          <p:cNvSpPr/>
          <p:nvPr/>
        </p:nvSpPr>
        <p:spPr>
          <a:xfrm>
            <a:off x="57150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ipelin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184251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Qwen3.5 LLM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589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JSON: hazard, severity, summary</a:t>
            </a:r>
            <a:endParaRPr lang="en-US" sz="1250" dirty="0"/>
          </a:p>
        </p:txBody>
      </p:sp>
      <p:sp>
        <p:nvSpPr>
          <p:cNvPr id="23" name="pipeline step 5"/>
          <p:cNvSpPr/>
          <p:nvPr/>
        </p:nvSpPr>
        <p:spPr>
          <a:xfrm>
            <a:off x="69494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24" name="pipeline icon 5 circle"/>
          <p:cNvSpPr/>
          <p:nvPr/>
        </p:nvSpPr>
        <p:spPr>
          <a:xfrm>
            <a:off x="73152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pipeline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184251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08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MiniLM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0591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384-dim sentence embedding</a:t>
            </a:r>
            <a:endParaRPr lang="en-US" sz="1250" dirty="0"/>
          </a:p>
        </p:txBody>
      </p:sp>
      <p:sp>
        <p:nvSpPr>
          <p:cNvPr id="28" name="pipeline step 6"/>
          <p:cNvSpPr/>
          <p:nvPr/>
        </p:nvSpPr>
        <p:spPr>
          <a:xfrm>
            <a:off x="85496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29" name="pipeline icon 6 circle"/>
          <p:cNvSpPr/>
          <p:nvPr/>
        </p:nvSpPr>
        <p:spPr>
          <a:xfrm>
            <a:off x="891540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pipeline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276" y="184251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410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Union-Find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6593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Merge duplicate reports</a:t>
            </a:r>
            <a:endParaRPr lang="en-US" sz="1250" dirty="0"/>
          </a:p>
        </p:txBody>
      </p:sp>
      <p:sp>
        <p:nvSpPr>
          <p:cNvPr id="33" name="pipeline step 7"/>
          <p:cNvSpPr/>
          <p:nvPr/>
        </p:nvSpPr>
        <p:spPr>
          <a:xfrm>
            <a:off x="10149840" y="1463040"/>
            <a:ext cx="1417320" cy="274320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34" name="pipeline icon 7 circle"/>
          <p:cNvSpPr/>
          <p:nvPr/>
        </p:nvSpPr>
        <p:spPr>
          <a:xfrm>
            <a:off x="1051560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pipeline icon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6476" y="1842516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24128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Priority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0259568" y="3017520"/>
            <a:ext cx="119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Weighted score → queue</a:t>
            </a:r>
            <a:endParaRPr lang="en-US" sz="1250" dirty="0"/>
          </a:p>
        </p:txBody>
      </p:sp>
      <p:sp>
        <p:nvSpPr>
          <p:cNvPr id="38" name="provenance note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0E2A36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39" name="provenance icon circle"/>
          <p:cNvSpPr/>
          <p:nvPr/>
        </p:nvSpPr>
        <p:spPr>
          <a:xfrm>
            <a:off x="822960" y="4937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provenance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36" y="5088636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737360" y="4709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Honest degradation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If a model is missing, Sentinel says so instead of inventing a severity. Each incident stores ai_provenance — e.g. vision: yolov8, llm: llama-server, embedding: all-MiniLM-L6-v2 — and duplicates are never merged on fallback vectors.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Core algorithms</a:t>
            </a:r>
            <a:endParaRPr lang="en-US" sz="3000" dirty="0"/>
          </a:p>
        </p:txBody>
      </p:sp>
      <p:sp>
        <p:nvSpPr>
          <p:cNvPr id="3" name="algorithm 1"/>
          <p:cNvSpPr/>
          <p:nvPr/>
        </p:nvSpPr>
        <p:spPr>
          <a:xfrm>
            <a:off x="548640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algorithm icon 1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lgorith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967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Union-Find dedup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Two reports are the same event when: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≤ 200 m apart (Haversine)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≤ 2 hours apart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cosine similarity ≥ 0.55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Path compression + union by rank → near O(1) merges</a:t>
            </a:r>
            <a:endParaRPr lang="en-US" sz="1500" dirty="0"/>
          </a:p>
        </p:txBody>
      </p:sp>
      <p:sp>
        <p:nvSpPr>
          <p:cNvPr id="8" name="algorithm 2"/>
          <p:cNvSpPr/>
          <p:nvPr/>
        </p:nvSpPr>
        <p:spPr>
          <a:xfrm>
            <a:off x="4297680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9" name="algorithm icon 2 circle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lgorithm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17967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Weighted priority score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Priority = 0.40 × Severity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+ 0.30 × Corroboration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+ 0.20 × Time in queue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+ 0.10 × Category weight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Binary heap: top incident in O(log n)</a:t>
            </a:r>
            <a:endParaRPr lang="en-US" sz="1500" dirty="0"/>
          </a:p>
        </p:txBody>
      </p:sp>
      <p:sp>
        <p:nvSpPr>
          <p:cNvPr id="13" name="algorithm 3"/>
          <p:cNvSpPr/>
          <p:nvPr/>
        </p:nvSpPr>
        <p:spPr>
          <a:xfrm>
            <a:off x="8046720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4" name="algorithm icon 3 circle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lgorithm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7967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k-d tree responder search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2-D tree over available responders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Alternates latitude / longitude splits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Latitude-aware pruning bound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Returns k nearest with distance in km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</a:rPr>
              <a:t>O(log n) average query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Use cases and data model</a:t>
            </a:r>
            <a:endParaRPr lang="en-US" sz="3000" dirty="0"/>
          </a:p>
        </p:txBody>
      </p:sp>
      <p:sp>
        <p:nvSpPr>
          <p:cNvPr id="3" name="use case plate"/>
          <p:cNvSpPr/>
          <p:nvPr/>
        </p:nvSpPr>
        <p:spPr>
          <a:xfrm>
            <a:off x="548640" y="123444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</p:spPr>
      </p:sp>
      <p:pic>
        <p:nvPicPr>
          <p:cNvPr id="4" name="use case diagram" descr="D:\scripting\PDL-Project\deliverables\assets\diagrams\fig6_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4663440" cy="3931041"/>
          </a:xfrm>
          <a:prstGeom prst="rect">
            <a:avLst/>
          </a:prstGeom>
        </p:spPr>
      </p:pic>
      <p:sp>
        <p:nvSpPr>
          <p:cNvPr id="5" name="class plate"/>
          <p:cNvSpPr/>
          <p:nvPr/>
        </p:nvSpPr>
        <p:spPr>
          <a:xfrm>
            <a:off x="5897880" y="1234440"/>
            <a:ext cx="571500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</p:spPr>
      </p:sp>
      <p:pic>
        <p:nvPicPr>
          <p:cNvPr id="6" name="class diagram" descr="D:\scripting\PDL-Project\deliverables\assets\diagrams\fig6_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5440680" cy="38346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1996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Use case diagram — Citizen, Dispatcher, Admin, AI Pipeline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897880" y="6199632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Class diagram — Incident, Cluster, Media, Responder, algorithms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3" name="stack 1"/>
          <p:cNvSpPr/>
          <p:nvPr/>
        </p:nvSpPr>
        <p:spPr>
          <a:xfrm>
            <a:off x="548640" y="1371600"/>
            <a:ext cx="2633472" cy="374904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stack icon 1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ac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967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Frontend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React 18 + Vite PWA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Tailwind CSS v4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Leaflet + OpenStreetMap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WebSocket client</a:t>
            </a:r>
            <a:endParaRPr lang="en-US" sz="1500" dirty="0"/>
          </a:p>
        </p:txBody>
      </p:sp>
      <p:sp>
        <p:nvSpPr>
          <p:cNvPr id="8" name="stack 2"/>
          <p:cNvSpPr/>
          <p:nvPr/>
        </p:nvSpPr>
        <p:spPr>
          <a:xfrm>
            <a:off x="3364992" y="1371600"/>
            <a:ext cx="2633472" cy="374904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9" name="stack icon 2 circle"/>
          <p:cNvSpPr/>
          <p:nvPr/>
        </p:nvSpPr>
        <p:spPr>
          <a:xfrm>
            <a:off x="3639312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tac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17967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62272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Backend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26060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FastAPI (async)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SQLAlchemy 2.0 ORM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JWT + bcrypt auth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Celery workers</a:t>
            </a:r>
            <a:endParaRPr lang="en-US" sz="1500" dirty="0"/>
          </a:p>
        </p:txBody>
      </p:sp>
      <p:sp>
        <p:nvSpPr>
          <p:cNvPr id="13" name="stack 3"/>
          <p:cNvSpPr/>
          <p:nvPr/>
        </p:nvSpPr>
        <p:spPr>
          <a:xfrm>
            <a:off x="6181344" y="1371600"/>
            <a:ext cx="2633472" cy="374904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4" name="stack icon 3 circle"/>
          <p:cNvSpPr/>
          <p:nvPr/>
        </p:nvSpPr>
        <p:spPr>
          <a:xfrm>
            <a:off x="6455664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tack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17967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78624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AI models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26060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YOLOv8n (Ultralytics)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OpenAI Whisper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Qwen3.5 via llama.cpp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all-MiniLM-L6-v2</a:t>
            </a:r>
            <a:endParaRPr lang="en-US" sz="1500" dirty="0"/>
          </a:p>
        </p:txBody>
      </p:sp>
      <p:sp>
        <p:nvSpPr>
          <p:cNvPr id="18" name="stack 4"/>
          <p:cNvSpPr/>
          <p:nvPr/>
        </p:nvSpPr>
        <p:spPr>
          <a:xfrm>
            <a:off x="8997696" y="1371600"/>
            <a:ext cx="2633472" cy="374904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9" name="stack icon 4 circle"/>
          <p:cNvSpPr/>
          <p:nvPr/>
        </p:nvSpPr>
        <p:spPr>
          <a:xfrm>
            <a:off x="9272016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ack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17967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94976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Data &amp; ops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26060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PostgreSQL + PostGIS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Redis broker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Docker Compose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pytest · Vitest · Playwright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100% open source  ·  runs on one laptop (RTX 4060)  ·  standalone mode with SQLite when Docker is unavailable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Citizen app — report in under a minute</a:t>
            </a:r>
            <a:endParaRPr lang="en-US" sz="3000" dirty="0"/>
          </a:p>
        </p:txBody>
      </p:sp>
      <p:sp>
        <p:nvSpPr>
          <p:cNvPr id="3" name="citizen form screenshot frame"/>
          <p:cNvSpPr/>
          <p:nvPr/>
        </p:nvSpPr>
        <p:spPr>
          <a:xfrm>
            <a:off x="585216" y="131673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" name="citizen form screenshot" descr="D:\scripting\PDL-Project\deliverables\assets\screens\02_citizen_form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49240" cy="3343275"/>
          </a:xfrm>
          <a:prstGeom prst="rect">
            <a:avLst/>
          </a:prstGeom>
        </p:spPr>
      </p:pic>
      <p:sp>
        <p:nvSpPr>
          <p:cNvPr id="5" name="track status screenshot frame"/>
          <p:cNvSpPr/>
          <p:nvPr/>
        </p:nvSpPr>
        <p:spPr>
          <a:xfrm>
            <a:off x="6163056" y="131673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track status screenshot" descr="D:\scripting\PDL-Project\deliverables\assets\screens\03b_track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49240" cy="3343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892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hazard type, description, photo of the bus, GPS 13.0069, 80.2060 at Kathipara junction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892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Track: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tracking ID INC-9400801E moves through Reported → AI Processing → Verified → Dispatched → Resolved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Dispatcher dashboard — Chennai at a glance</a:t>
            </a:r>
            <a:endParaRPr lang="en-US" sz="3000" dirty="0"/>
          </a:p>
        </p:txBody>
      </p:sp>
      <p:sp>
        <p:nvSpPr>
          <p:cNvPr id="3" name="dashboard screenshot frame"/>
          <p:cNvSpPr/>
          <p:nvPr/>
        </p:nvSpPr>
        <p:spPr>
          <a:xfrm>
            <a:off x="585216" y="1271016"/>
            <a:ext cx="7699248" cy="4853178"/>
          </a:xfrm>
          <a:prstGeom prst="roundRect">
            <a:avLst>
              <a:gd name="adj" fmla="val 15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" name="dashboard screenshot" descr="D:\scripting\PDL-Project\deliverables\assets\screens\05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589520" cy="4743450"/>
          </a:xfrm>
          <a:prstGeom prst="rect">
            <a:avLst/>
          </a:prstGeom>
        </p:spPr>
      </p:pic>
      <p:sp>
        <p:nvSpPr>
          <p:cNvPr id="5" name="dashboard icon 1 circle"/>
          <p:cNvSpPr/>
          <p:nvPr/>
        </p:nvSpPr>
        <p:spPr>
          <a:xfrm>
            <a:off x="8549640" y="13716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ashboard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364" y="1496324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81160" y="13258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Live map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18 incidents from Ennore to Tambaram with heatmap and 200 m radius</a:t>
            </a:r>
            <a:endParaRPr lang="en-US" sz="1400" dirty="0"/>
          </a:p>
        </p:txBody>
      </p:sp>
      <p:sp>
        <p:nvSpPr>
          <p:cNvPr id="8" name="dashboard icon 2 circle"/>
          <p:cNvSpPr/>
          <p:nvPr/>
        </p:nvSpPr>
        <p:spPr>
          <a:xfrm>
            <a:off x="8549640" y="2971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dashboard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364" y="3096524"/>
            <a:ext cx="317480" cy="317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81160" y="2926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clusters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7 reports merged into 3 events by Union-Find</a:t>
            </a:r>
            <a:endParaRPr lang="en-US" sz="1400" dirty="0"/>
          </a:p>
        </p:txBody>
      </p:sp>
      <p:sp>
        <p:nvSpPr>
          <p:cNvPr id="11" name="dashboard icon 3 circle"/>
          <p:cNvSpPr/>
          <p:nvPr/>
        </p:nvSpPr>
        <p:spPr>
          <a:xfrm>
            <a:off x="8549640" y="4572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dashboard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364" y="4696724"/>
            <a:ext cx="317480" cy="3174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281160" y="4526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Real-time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WebSocket feed sorted by priority, 15 s poll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AI analysis and one-click dispatch</a:t>
            </a:r>
            <a:endParaRPr lang="en-US" sz="3000" dirty="0"/>
          </a:p>
        </p:txBody>
      </p:sp>
      <p:sp>
        <p:nvSpPr>
          <p:cNvPr id="3" name="AI analysis screenshot frame"/>
          <p:cNvSpPr/>
          <p:nvPr/>
        </p:nvSpPr>
        <p:spPr>
          <a:xfrm>
            <a:off x="585216" y="131673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" name="AI analysis screenshot" descr="D:\scripting\PDL-Project\deliverables\assets\screens\06_incident_live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49240" cy="3343275"/>
          </a:xfrm>
          <a:prstGeom prst="rect">
            <a:avLst/>
          </a:prstGeom>
        </p:spPr>
      </p:pic>
      <p:sp>
        <p:nvSpPr>
          <p:cNvPr id="5" name="dispatch screenshot frame"/>
          <p:cNvSpPr/>
          <p:nvPr/>
        </p:nvSpPr>
        <p:spPr>
          <a:xfrm>
            <a:off x="6163056" y="1316736"/>
            <a:ext cx="5458968" cy="3453003"/>
          </a:xfrm>
          <a:prstGeom prst="roundRect">
            <a:avLst>
              <a:gd name="adj" fmla="val 21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dispatch screenshot" descr="D:\scripting\PDL-Project\deliverables\assets\screens\07b_incident_dis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49240" cy="3343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892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analysis: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YOLOv8 saw the bus, the LLM extracted “road accident, Kathipara junction, severity 4” and a summary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892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Dispatch: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k-d tree ranks responders — Officer Priya Nair, Fire &amp; Rescue, 0.15 km from the T. Nagar fire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Results on the Chennai demonstration dataset</a:t>
            </a:r>
            <a:endParaRPr lang="en-US" sz="3000" dirty="0"/>
          </a:p>
        </p:txBody>
      </p:sp>
      <p:sp>
        <p:nvSpPr>
          <p:cNvPr id="3" name="stat 1"/>
          <p:cNvSpPr/>
          <p:nvPr/>
        </p:nvSpPr>
        <p:spPr>
          <a:xfrm>
            <a:off x="548640" y="1325880"/>
            <a:ext cx="4937760" cy="1078992"/>
          </a:xfrm>
          <a:prstGeom prst="roundRect">
            <a:avLst>
              <a:gd name="adj" fmla="val 10169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1732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citizen reports processed through the real pipeline</a:t>
            </a:r>
            <a:endParaRPr lang="en-US" sz="1450" dirty="0"/>
          </a:p>
        </p:txBody>
      </p:sp>
      <p:sp>
        <p:nvSpPr>
          <p:cNvPr id="6" name="stat 2"/>
          <p:cNvSpPr/>
          <p:nvPr/>
        </p:nvSpPr>
        <p:spPr>
          <a:xfrm>
            <a:off x="548640" y="2542032"/>
            <a:ext cx="4937760" cy="1078992"/>
          </a:xfrm>
          <a:prstGeom prst="roundRect">
            <a:avLst>
              <a:gd name="adj" fmla="val 10169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33472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63347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duplicate groups merged correctly (T. Nagar, Kathipara, Velachery)</a:t>
            </a:r>
            <a:endParaRPr lang="en-US" sz="1450" dirty="0"/>
          </a:p>
        </p:txBody>
      </p:sp>
      <p:sp>
        <p:nvSpPr>
          <p:cNvPr id="9" name="stat 3"/>
          <p:cNvSpPr/>
          <p:nvPr/>
        </p:nvSpPr>
        <p:spPr>
          <a:xfrm>
            <a:off x="548640" y="3758184"/>
            <a:ext cx="4937760" cy="1078992"/>
          </a:xfrm>
          <a:prstGeom prst="roundRect">
            <a:avLst>
              <a:gd name="adj" fmla="val 10169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962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 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849624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average AI triage per report on a laptop GPU</a:t>
            </a:r>
            <a:endParaRPr lang="en-US" sz="1450" dirty="0"/>
          </a:p>
        </p:txBody>
      </p:sp>
      <p:sp>
        <p:nvSpPr>
          <p:cNvPr id="12" name="stat 4"/>
          <p:cNvSpPr/>
          <p:nvPr/>
        </p:nvSpPr>
        <p:spPr>
          <a:xfrm>
            <a:off x="548640" y="4974336"/>
            <a:ext cx="4937760" cy="1078992"/>
          </a:xfrm>
          <a:prstGeom prst="roundRect">
            <a:avLst>
              <a:gd name="adj" fmla="val 10169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6577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506577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automated tests passing</a:t>
            </a:r>
            <a:endParaRPr lang="en-US" sz="1450" dirty="0"/>
          </a:p>
        </p:txBody>
      </p:sp>
      <p:sp>
        <p:nvSpPr>
          <p:cNvPr id="15" name="analytics screenshot frame"/>
          <p:cNvSpPr/>
          <p:nvPr/>
        </p:nvSpPr>
        <p:spPr>
          <a:xfrm>
            <a:off x="5888736" y="1316736"/>
            <a:ext cx="5779008" cy="3653028"/>
          </a:xfrm>
          <a:prstGeom prst="roundRect">
            <a:avLst>
              <a:gd name="adj" fmla="val 20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analytics screenshot" descr="D:\scripting\PDL-Project\deliverables\assets\screens\08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35433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943600" y="5074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Analytics: category and status distribution, average time to dispatch (8 min) and resolve (48 min) on seeded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Testing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766560" y="1371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Unit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Haversine (Chennai Central → Egmore ≈ 1.9 km), Union-Find, priority, k-d tree vs brute force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Functional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Submit, track, list, status lifecycle, nearest responders, dispatch, analytics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Integration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Real FastAPI app on in-memory SQLite; full pipeline clusters two matching reports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4800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Black / white box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Invalid input, auth guards, every model fallback path, LLM output parsing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enhancements</a:t>
            </a:r>
            <a:endParaRPr lang="en-US" sz="30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325880"/>
            <a:ext cx="5120640" cy="4754880"/>
          </a:xfrm>
          <a:prstGeom prst="roundRect">
            <a:avLst>
              <a:gd name="adj" fmla="val 2308"/>
            </a:avLst>
          </a:prstGeom>
          <a:solidFill>
            <a:schemeClr val="accent5"/>
          </a:solidFill>
          <a:ln w="9525">
            <a:solidFill>
              <a:srgbClr val="24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What Sentinel delivers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chemeClr val="bg2"/>
                </a:solidFill>
              </a:rPr>
              <a:t>Citizens report with evidence and exact GPS in under a minute</a:t>
            </a:r>
            <a:endParaRPr lang="en-US" sz="15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chemeClr val="bg2"/>
                </a:solidFill>
              </a:rPr>
              <a:t>AI verifies, summarises and scores every report locally</a:t>
            </a:r>
            <a:endParaRPr lang="en-US" sz="15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chemeClr val="bg2"/>
                </a:solidFill>
              </a:rPr>
              <a:t>Duplicates merged — dispatchers handle each event once</a:t>
            </a:r>
            <a:endParaRPr lang="en-US" sz="15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chemeClr val="bg2"/>
                </a:solidFill>
              </a:rPr>
              <a:t>Nearest responder suggested and dispatched in one click</a:t>
            </a:r>
            <a:endParaRPr lang="en-US" sz="15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chemeClr val="bg2"/>
                </a:solidFill>
              </a:rPr>
              <a:t>Every stage time-stamped for response-time analytics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Future enhancements</a:t>
            </a:r>
            <a:endParaRPr lang="en-US" sz="1900" dirty="0"/>
          </a:p>
        </p:txBody>
      </p:sp>
      <p:sp>
        <p:nvSpPr>
          <p:cNvPr id="7" name="future icon 1 circle"/>
          <p:cNvSpPr/>
          <p:nvPr/>
        </p:nvSpPr>
        <p:spPr>
          <a:xfrm>
            <a:off x="603504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utur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5682" y="21223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72084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Integrate with 112 / ERSS control rooms</a:t>
            </a:r>
            <a:endParaRPr lang="en-US" sz="1550" dirty="0"/>
          </a:p>
        </p:txBody>
      </p:sp>
      <p:sp>
        <p:nvSpPr>
          <p:cNvPr id="10" name="future icon 2 circle"/>
          <p:cNvSpPr/>
          <p:nvPr/>
        </p:nvSpPr>
        <p:spPr>
          <a:xfrm>
            <a:off x="6035040" y="2697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utur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682" y="28081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20840" y="2697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Tamil and multilingual reporting</a:t>
            </a:r>
            <a:endParaRPr lang="en-US" sz="1550" dirty="0"/>
          </a:p>
        </p:txBody>
      </p:sp>
      <p:sp>
        <p:nvSpPr>
          <p:cNvPr id="13" name="future icon 3 circle"/>
          <p:cNvSpPr/>
          <p:nvPr/>
        </p:nvSpPr>
        <p:spPr>
          <a:xfrm>
            <a:off x="6035040" y="3383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utur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682" y="349392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20840" y="3383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Responder mobile app with live location</a:t>
            </a:r>
            <a:endParaRPr lang="en-US" sz="1550" dirty="0"/>
          </a:p>
        </p:txBody>
      </p:sp>
      <p:sp>
        <p:nvSpPr>
          <p:cNvPr id="16" name="future icon 4 circle"/>
          <p:cNvSpPr/>
          <p:nvPr/>
        </p:nvSpPr>
        <p:spPr>
          <a:xfrm>
            <a:off x="603504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futur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682" y="417972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2084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Fine-tuned hazard detection on Indian data</a:t>
            </a:r>
            <a:endParaRPr lang="en-US" sz="1550" dirty="0"/>
          </a:p>
        </p:txBody>
      </p:sp>
      <p:sp>
        <p:nvSpPr>
          <p:cNvPr id="19" name="future icon 5 circle"/>
          <p:cNvSpPr/>
          <p:nvPr/>
        </p:nvSpPr>
        <p:spPr>
          <a:xfrm>
            <a:off x="603504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uture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682" y="486552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2084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Hotspot prediction for monsoon flooding</a:t>
            </a:r>
            <a:endParaRPr lang="en-US" sz="1550" dirty="0"/>
          </a:p>
        </p:txBody>
      </p:sp>
      <p:sp>
        <p:nvSpPr>
          <p:cNvPr id="22" name="future icon 6 circle"/>
          <p:cNvSpPr/>
          <p:nvPr/>
        </p:nvSpPr>
        <p:spPr>
          <a:xfrm>
            <a:off x="6035040" y="5440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uture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5682" y="5551322"/>
            <a:ext cx="281635" cy="28163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2084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bg2"/>
                </a:solidFill>
              </a:rPr>
              <a:t>Offline queueing and SMS fallback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ntinel icon circle"/>
          <p:cNvSpPr/>
          <p:nvPr/>
        </p:nvSpPr>
        <p:spPr>
          <a:xfrm>
            <a:off x="5641848" y="1371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sentin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572768"/>
            <a:ext cx="512064" cy="5120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20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Latheshkumar S  ·  Madesh S  ·  Jeffrin A  ·  Kamalesh Balaji D 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12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Guided by Ms. Sumitha T  ·  R.M.K. Engineering College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 Ops">
  <a:themeElements>
    <a:clrScheme name="Sentinel Ops">
      <a:dk1>
        <a:srgbClr val="0F172A"/>
      </a:dk1>
      <a:lt1>
        <a:srgbClr val="FFFFFF"/>
      </a:lt1>
      <a:dk2>
        <a:srgbClr val="0B1220"/>
      </a:dk2>
      <a:lt2>
        <a:srgbClr val="CBD5E1"/>
      </a:lt2>
      <a:accent1>
        <a:srgbClr val="06B6D4"/>
      </a:accent1>
      <a:accent2>
        <a:srgbClr val="EF4444"/>
      </a:accent2>
      <a:accent3>
        <a:srgbClr val="F59E0B"/>
      </a:accent3>
      <a:accent4>
        <a:srgbClr val="10B981"/>
      </a:accent4>
      <a:accent5>
        <a:srgbClr val="18233A"/>
      </a:accent5>
      <a:accent6>
        <a:srgbClr val="64748B"/>
      </a:accent6>
      <a:hlink>
        <a:srgbClr val="22D3EE"/>
      </a:hlink>
      <a:folHlink>
        <a:srgbClr val="94A3B8"/>
      </a:folHlink>
    </a:clrScheme>
    <a:fontScheme name="Sentinel 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- PDL-2 Final Review</dc:title>
  <dc:subject>PptxGenJS Presentation</dc:subject>
  <dc:creator>Latheshkumar S, Madesh S, Jeffrin A, Kamalesh Balaji D N</dc:creator>
  <cp:lastModifiedBy>Latheshkumar S, Madesh S, Jeffrin A, Kamalesh Balaji D N</cp:lastModifiedBy>
  <cp:revision>1</cp:revision>
  <dcterms:created xsi:type="dcterms:W3CDTF">2026-10-10T10:06:14Z</dcterms:created>
  <dcterms:modified xsi:type="dcterms:W3CDTF">2026-10-10T10:06:14Z</dcterms:modified>
</cp:coreProperties>
</file>