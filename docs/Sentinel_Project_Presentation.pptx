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3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073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citizen reports an incident, AI classifies and deduplicates it, the system ranks it by urgency and routes it to the nearest responder. Team of 2-3, 8-week build. This sets up the problem slide that follows: manual triage is the reason this pipeline needs to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BMC Mumbai proves the bottleneck is triage capacity, not report volume - resolution time rose even as complaints fell. Navsari and CPGRAMS prove automated routing fixes this: Navsari hit 85% resolution within 48 hours post-digitization, and CPGRAMS roughly halved its national average after adding AI-assisted routing - and per the latest government data (mid-2026), that figure is still holding around 13 days, so this isn't a one-off result. The three-gap list at the bottom is the direct specification for Sentinel's pipeline - each gap maps to a pipeline stage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left to right, top row then bottom row, as one continuous flow rather than six separate features. Stages 1-3 are about getting a clean, structured, deduplicated signal from the citizen; stages 4-6 are about getting the right incident to the right responder fastest. Emphasize that each stage is independently demoable - that becomes the basis for the roadmap and the fallback-scope slides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vision and NLP run in parallel on the same submitted report, not sequentially - that's why they're drawn as one box with two lanes. Deduplication (Union-Find, keyed on geo-proximity + time window) happens inside the NLP stage, before anything reaches the priority queue. The analytics layer is intentionally a passive tap on the data, not part of the live routing path, so it can't slow down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explicitly to the panel that this is not a CRUD app with an AI feature bolted on: Union-Find, a priority heap, and k-d tree / grid-hash geospatial search are classic CS applied to a real routing problem. Mention that the LLM can run locally (Ollama/LM Studio/Llama.cpp) or via a hosted API - that's a deliberate flexibility choice, not an unresolved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standard feasibility study rather than a schedule: technical, team, data, and schedule feasibility are the four dimensions an evaluator checks before believing a proposal is real. Every open-source component listed here is production-grade and widely deployed, so the risk is in integration effort, not in whether the pieces work. The simulated incident dataset point is important - it means the demo doesn't depend on having real citizen adoption before evaluation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 we're not overreaching' slide. Pair confidence with honesty: the scope was chosen deliberately so that every stage is independently buildable and demoable, and the project degrades gracefully - it doesn't collapse - if one stage runs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same Report -&gt; Classify -&gt; Deduplicate -&gt; Prioritize -&gt; Route line from the title slide to bookend the talk. Open the floor for questions - likely areas: dataset sourcing for the vision model, why Union-Find over a simpler distance threshold, and how responder matching handles real-time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72191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9436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LAB  ·  PROJECT PROPOSAL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20574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621792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Public Safety &amp; Incident Response Platform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21792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/ Civic Tech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42232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42232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4 Members</a:t>
            </a:r>
          </a:p>
        </p:txBody>
      </p:sp>
      <p:sp>
        <p:nvSpPr>
          <p:cNvPr id="11" name="Text 8"/>
          <p:cNvSpPr/>
          <p:nvPr/>
        </p:nvSpPr>
        <p:spPr>
          <a:xfrm>
            <a:off x="7662672" y="4160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62672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1792" y="5806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313432" y="5806440"/>
            <a:ext cx="44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59202" y="5806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50842" y="5806440"/>
            <a:ext cx="44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6612" y="5806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8252" y="5806440"/>
            <a:ext cx="44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34022" y="5806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25662" y="5806440"/>
            <a:ext cx="445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171432" y="5806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Triage Doesn't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grievance data shows the bottleneck is triage capacity — and that automated routing already fixes it elsewhere.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149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874520"/>
            <a:ext cx="3002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0577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days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3002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 · MUMBAI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182112"/>
            <a:ext cx="300289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 in 2021 — up from 30 days in 2019, despite falling complaint volume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7914" y="1691640"/>
            <a:ext cx="35149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93946" y="1874520"/>
            <a:ext cx="3002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ACHIEVABLE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66514" y="2130552"/>
            <a:ext cx="30577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93946" y="2926080"/>
            <a:ext cx="3002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NAVSARI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3946" y="3182112"/>
            <a:ext cx="300289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complaints resolved within 48 hours after the grievance system was digitized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7187" y="1691640"/>
            <a:ext cx="3514954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83219" y="1874520"/>
            <a:ext cx="3002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ACHIEVABLE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55787" y="2130552"/>
            <a:ext cx="30577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→ 13 days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83219" y="2926080"/>
            <a:ext cx="3002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CPGRAMS · NATIONAL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83219" y="3182112"/>
            <a:ext cx="300289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resolution time after introducing AI-assisted routing (govt. data, 2019–2024/26)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7240" y="5010912"/>
            <a:ext cx="512064" cy="512064"/>
          </a:xfrm>
          <a:prstGeom prst="ellipse">
            <a:avLst/>
          </a:prstGeom>
          <a:solidFill>
            <a:srgbClr val="1B2A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/home/claude/icons/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138928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44752" y="4937760"/>
            <a:ext cx="2417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Verification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444752" y="5376672"/>
            <a:ext cx="24176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can't quickly gauge severity without manual review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37914" y="475488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566514" y="5010912"/>
            <a:ext cx="512064" cy="512064"/>
          </a:xfrm>
          <a:prstGeom prst="ellipse">
            <a:avLst/>
          </a:prstGeom>
          <a:solidFill>
            <a:srgbClr val="1B2A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1" descr="/home/claude/icons/dupl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530" y="513892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4026" y="4937760"/>
            <a:ext cx="2417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Deduplication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234026" y="5376672"/>
            <a:ext cx="24176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incident, reported by many, creates redundant tickets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8127187" y="4754880"/>
            <a:ext cx="351495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8355787" y="5010912"/>
            <a:ext cx="512064" cy="512064"/>
          </a:xfrm>
          <a:prstGeom prst="ellipse">
            <a:avLst/>
          </a:prstGeom>
          <a:solidFill>
            <a:srgbClr val="1B2A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2" descr="/home/claude/icons/prio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803" y="5138928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023299" y="4937760"/>
            <a:ext cx="2417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Prioritization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9023299" y="5376672"/>
            <a:ext cx="24176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pothole and a fire hazard sit in the same undifferentiated queue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Sentinel Solution — A Six-Stage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pipeline stage answers one part of the triage gap — independently buildable, independently demoable.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495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920240"/>
            <a:ext cx="365760" cy="365760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3786" y="1901952"/>
            <a:ext cx="402336" cy="402336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icons/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11" y="1992478"/>
            <a:ext cx="221285" cy="22128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395728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9808" y="2761488"/>
            <a:ext cx="3112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photo, video, or voice capture with automatic GPS geotagging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37914" y="1737360"/>
            <a:ext cx="351495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39082" y="1920240"/>
            <a:ext cx="365760" cy="365760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39082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03059" y="1901952"/>
            <a:ext cx="402336" cy="402336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icons/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585" y="1992478"/>
            <a:ext cx="221285" cy="22128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39082" y="2395728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39082" y="2761488"/>
            <a:ext cx="3112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YOLOv8 classifies hazard type and estimates severity from media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27187" y="1737360"/>
            <a:ext cx="351495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328355" y="1920240"/>
            <a:ext cx="365760" cy="365760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8328355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892333" y="1901952"/>
            <a:ext cx="402336" cy="402336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/home/claude/icons/n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858" y="1992478"/>
            <a:ext cx="221285" cy="22128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28355" y="2395728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28355" y="2761488"/>
            <a:ext cx="3112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free text or transcribed voice into structured fields; embeds for dedup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3867912"/>
            <a:ext cx="351495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749808" y="4050792"/>
            <a:ext cx="365760" cy="365760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749808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313786" y="4032504"/>
            <a:ext cx="402336" cy="402336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3" descr="/home/claude/icons/que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4311" y="4123030"/>
            <a:ext cx="221285" cy="22128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9808" y="4526280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49808" y="4892040"/>
            <a:ext cx="3112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ranking by severity, corroboration count, and time-in-queue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337914" y="3867912"/>
            <a:ext cx="351495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4539082" y="4050792"/>
            <a:ext cx="365760" cy="365760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4539082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103059" y="4032504"/>
            <a:ext cx="402336" cy="402336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4" descr="/home/claude/icons/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3585" y="4123030"/>
            <a:ext cx="221285" cy="22128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539082" y="4526280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Dashboard</a:t>
            </a:r>
            <a:endParaRPr lang="en-US" sz="1450" dirty="0"/>
          </a:p>
        </p:txBody>
      </p:sp>
      <p:sp>
        <p:nvSpPr>
          <p:cNvPr id="39" name="Text 32"/>
          <p:cNvSpPr/>
          <p:nvPr/>
        </p:nvSpPr>
        <p:spPr>
          <a:xfrm>
            <a:off x="4539082" y="4892040"/>
            <a:ext cx="3112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sorted feed, nearest-responder matching via geospatial search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127187" y="3867912"/>
            <a:ext cx="351495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4"/>
          <p:cNvSpPr/>
          <p:nvPr/>
        </p:nvSpPr>
        <p:spPr>
          <a:xfrm>
            <a:off x="8328355" y="4050792"/>
            <a:ext cx="365760" cy="365760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5"/>
          <p:cNvSpPr/>
          <p:nvPr/>
        </p:nvSpPr>
        <p:spPr>
          <a:xfrm>
            <a:off x="8328355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10892333" y="4032504"/>
            <a:ext cx="402336" cy="402336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5" descr="/home/claude/icons/resol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2858" y="4123030"/>
            <a:ext cx="221285" cy="221285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328355" y="4526280"/>
            <a:ext cx="3112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/ Authority</a:t>
            </a:r>
            <a:endParaRPr lang="en-US" sz="1450" dirty="0"/>
          </a:p>
        </p:txBody>
      </p:sp>
      <p:sp>
        <p:nvSpPr>
          <p:cNvPr id="46" name="Text 38"/>
          <p:cNvSpPr/>
          <p:nvPr/>
        </p:nvSpPr>
        <p:spPr>
          <a:xfrm>
            <a:off x="8328355" y="4892040"/>
            <a:ext cx="3112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Acknowledge, resolve, and notify the citizen through a status workflow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single-direction pipeline — vision and NLP run in parallel, analytics reads passively from the same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3246120"/>
            <a:ext cx="341071" cy="0"/>
          </a:xfrm>
          <a:prstGeom prst="line">
            <a:avLst/>
          </a:prstGeom>
          <a:noFill/>
          <a:ln w="25400">
            <a:solidFill>
              <a:srgbClr val="101B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21631" y="3246120"/>
            <a:ext cx="341071" cy="0"/>
          </a:xfrm>
          <a:prstGeom prst="line">
            <a:avLst/>
          </a:prstGeom>
          <a:noFill/>
          <a:ln w="25400">
            <a:solidFill>
              <a:srgbClr val="101B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762902" y="3246120"/>
            <a:ext cx="341071" cy="0"/>
          </a:xfrm>
          <a:prstGeom prst="line">
            <a:avLst/>
          </a:prstGeom>
          <a:noFill/>
          <a:ln w="25400">
            <a:solidFill>
              <a:srgbClr val="101B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32774" y="3246120"/>
            <a:ext cx="341071" cy="0"/>
          </a:xfrm>
          <a:prstGeom prst="line">
            <a:avLst/>
          </a:prstGeom>
          <a:noFill/>
          <a:ln w="25400">
            <a:solidFill>
              <a:srgbClr val="101B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25374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7020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975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Photo/video/voice + GPS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9911" y="2148840"/>
            <a:ext cx="2331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54503" y="2258568"/>
            <a:ext cx="2002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 ·  PARALLEL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4503" y="3246120"/>
            <a:ext cx="2002536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654503" y="2569464"/>
            <a:ext cx="365760" cy="365760"/>
          </a:xfrm>
          <a:prstGeom prst="ellipse">
            <a:avLst/>
          </a:prstGeom>
          <a:solidFill>
            <a:srgbClr val="1B2A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/home/claude/icons/v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799" y="2651760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111703" y="2532888"/>
            <a:ext cx="1545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111703" y="277063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hazard + severity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654503" y="3392424"/>
            <a:ext cx="365760" cy="365760"/>
          </a:xfrm>
          <a:prstGeom prst="ellipse">
            <a:avLst/>
          </a:prstGeom>
          <a:solidFill>
            <a:srgbClr val="1B2A4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home/claude/icons/n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799" y="347472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11703" y="3355848"/>
            <a:ext cx="1545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LLM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111703" y="3593592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Union-Find dedup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162702" y="25374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299862" y="2702052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299862" y="34975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+ Union-Find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103974" y="253746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7241134" y="27020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241134" y="34975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+ matching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273845" y="2537460"/>
            <a:ext cx="1828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9411005" y="27020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411005" y="34975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notify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933438" y="3246120"/>
            <a:ext cx="0" cy="2011680"/>
          </a:xfrm>
          <a:prstGeom prst="line">
            <a:avLst/>
          </a:prstGeom>
          <a:noFill/>
          <a:ln w="19050">
            <a:solidFill>
              <a:srgbClr val="3D5A80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9"/>
          <p:cNvSpPr/>
          <p:nvPr/>
        </p:nvSpPr>
        <p:spPr>
          <a:xfrm>
            <a:off x="5561838" y="525780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B2A4D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5744718" y="550926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5612130"/>
            <a:ext cx="251460" cy="2514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339078" y="53858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6339078" y="5715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heatmaps · SLA trend charts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Core Algorithmic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CRUD app with an AI label — classic algorithms doing real routing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7635" cy="36118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6384" y="2011680"/>
            <a:ext cx="566928" cy="56692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1534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743200"/>
            <a:ext cx="2110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04672" y="3273552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9264" y="3145536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Progressive Web App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04672" y="3986784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69264" y="3858768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voice &amp; GPS capture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04672" y="4700016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69264" y="4572000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app-store distribution needed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390595" y="1737360"/>
            <a:ext cx="2567635" cy="36118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628339" y="2011680"/>
            <a:ext cx="566928" cy="56692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/home/claude/icons/bac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071" y="215341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28339" y="2743200"/>
            <a:ext cx="2110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3646627" y="3273552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3811219" y="3151799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 err="1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80" dirty="0">
              <a:solidFill>
                <a:srgbClr val="1B2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646627" y="3986784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3811219" y="3858768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3646627" y="4700016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3811219" y="4572000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queries at the DB layer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232550" y="1737360"/>
            <a:ext cx="2567635" cy="36118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6470294" y="2011680"/>
            <a:ext cx="566928" cy="56692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2" descr="/home/claude/icons/aim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026" y="2153412"/>
            <a:ext cx="283464" cy="2834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0294" y="2743200"/>
            <a:ext cx="2110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6488582" y="3273552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653174" y="3145536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 — vision</a:t>
            </a:r>
            <a:endParaRPr lang="en-US" sz="1080" dirty="0"/>
          </a:p>
        </p:txBody>
      </p:sp>
      <p:sp>
        <p:nvSpPr>
          <p:cNvPr id="31" name="Shape 26"/>
          <p:cNvSpPr/>
          <p:nvPr/>
        </p:nvSpPr>
        <p:spPr>
          <a:xfrm>
            <a:off x="6488582" y="3986784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6653174" y="3858768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(Ollama/LM Studio) or API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>
            <a:off x="6488582" y="4700016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6653174" y="4572000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— embeddings (Handled by LLM)</a:t>
            </a:r>
            <a:endParaRPr lang="en-US" sz="1080" dirty="0"/>
          </a:p>
        </p:txBody>
      </p:sp>
      <p:sp>
        <p:nvSpPr>
          <p:cNvPr id="35" name="Shape 30"/>
          <p:cNvSpPr/>
          <p:nvPr/>
        </p:nvSpPr>
        <p:spPr>
          <a:xfrm>
            <a:off x="9074506" y="1737360"/>
            <a:ext cx="2567635" cy="36118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9312250" y="2011680"/>
            <a:ext cx="566928" cy="56692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3" descr="/home/claude/icons/al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982" y="2153412"/>
            <a:ext cx="283464" cy="28346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312250" y="2743200"/>
            <a:ext cx="21104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</a:t>
            </a:r>
            <a:endParaRPr lang="en-US" sz="1550" dirty="0"/>
          </a:p>
        </p:txBody>
      </p:sp>
      <p:sp>
        <p:nvSpPr>
          <p:cNvPr id="39" name="Shape 33"/>
          <p:cNvSpPr/>
          <p:nvPr/>
        </p:nvSpPr>
        <p:spPr>
          <a:xfrm>
            <a:off x="9330538" y="3273552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4"/>
          <p:cNvSpPr/>
          <p:nvPr/>
        </p:nvSpPr>
        <p:spPr>
          <a:xfrm>
            <a:off x="9495130" y="3145536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— duplicate clustering</a:t>
            </a:r>
            <a:endParaRPr lang="en-US" sz="1080" dirty="0"/>
          </a:p>
        </p:txBody>
      </p:sp>
      <p:sp>
        <p:nvSpPr>
          <p:cNvPr id="41" name="Shape 35"/>
          <p:cNvSpPr/>
          <p:nvPr/>
        </p:nvSpPr>
        <p:spPr>
          <a:xfrm>
            <a:off x="9330538" y="3986784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9495130" y="3858768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heap — triage ranking</a:t>
            </a:r>
            <a:endParaRPr lang="en-US" sz="1080" dirty="0"/>
          </a:p>
        </p:txBody>
      </p:sp>
      <p:sp>
        <p:nvSpPr>
          <p:cNvPr id="43" name="Shape 37"/>
          <p:cNvSpPr/>
          <p:nvPr/>
        </p:nvSpPr>
        <p:spPr>
          <a:xfrm>
            <a:off x="9330538" y="4700016"/>
            <a:ext cx="64008" cy="64008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9495130" y="4572000"/>
            <a:ext cx="192755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/ grid hash — nearest responder</a:t>
            </a:r>
            <a:endParaRPr lang="en-US" sz="1080" dirty="0"/>
          </a:p>
        </p:txBody>
      </p:sp>
      <p:sp>
        <p:nvSpPr>
          <p:cNvPr id="45" name="Text 39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proven and modular, the team maps directly onto the pipeline, and the scope degrades gracefully under pressure.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1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512064" cy="512064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al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2116287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93392"/>
            <a:ext cx="423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633472"/>
            <a:ext cx="48979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mature, well-documented open-source tools — YOLOv8, PostgreSQL/PostGIS, sentence-transformers, Union-Find, priority heaps, k-d trees. No unproven research is required to ship a working system.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6233008" y="1737360"/>
            <a:ext cx="541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89040" y="1993392"/>
            <a:ext cx="512064" cy="512064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935" y="211628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47408" y="1993392"/>
            <a:ext cx="423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Feasibility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89040" y="2633472"/>
            <a:ext cx="48979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six-stage pipeline maps directly onto three ownership tracks — AI pipeline, backend &amp; algorithms, frontend — giving a 2–3 person team clear, non-overlapping responsibility for every stage.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04672" y="4233672"/>
            <a:ext cx="512064" cy="512064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567" y="4356567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233672"/>
            <a:ext cx="423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Feasibility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04672" y="4873752"/>
            <a:ext cx="48979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model trains on a collected hazard-image dataset, and the full pipeline is validated end-to-end on a simulated incident dataset — so testing and demo don't depend on live citizen reports.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89040" y="4233672"/>
            <a:ext cx="512064" cy="512064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935" y="4356567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47408" y="4233672"/>
            <a:ext cx="423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Feasibility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489040" y="4873752"/>
            <a:ext cx="48979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independently buildable and demoable inside the 8-week window, with a defined fallback scope if any stage runs behind — the project degrades gracefully rather than stalling.</a:t>
            </a:r>
            <a:endParaRPr lang="en-US" sz="1030" dirty="0"/>
          </a:p>
        </p:txBody>
      </p:sp>
      <p:sp>
        <p:nvSpPr>
          <p:cNvPr id="25" name="Text 19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Significance, Technical Depth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this clears the bar for an academic capstone, not just a working app.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9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2286000"/>
            <a:ext cx="658368" cy="65836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relev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50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154680"/>
            <a:ext cx="2929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703320"/>
            <a:ext cx="292973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a documented, measurable gap in civic and public-safety response systems — not a hypothetical problem.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7914" y="1965960"/>
            <a:ext cx="35149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30522" y="2286000"/>
            <a:ext cx="658368" cy="65836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icons/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245059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0522" y="3154680"/>
            <a:ext cx="2929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30522" y="3703320"/>
            <a:ext cx="292973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NLP/LLM integration, and classic algorithms (Union-Find, heaps, geospatial search) — not a CRUD app with an AI label.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187" y="1965960"/>
            <a:ext cx="35149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3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419795" y="2286000"/>
            <a:ext cx="658368" cy="658368"/>
          </a:xfrm>
          <a:prstGeom prst="ellipse">
            <a:avLst/>
          </a:prstGeom>
          <a:solidFill>
            <a:srgbClr val="101B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icons/sco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87" y="245059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9795" y="3154680"/>
            <a:ext cx="2929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Appropriately Scoped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9795" y="3703320"/>
            <a:ext cx="292973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pipeline stage is independently buildable and demoable, so progress is visible weekly and the project degrades gracefully under time pressure.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1371600"/>
            <a:ext cx="640080" cy="64008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826" y="151561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346808" y="5120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81248" y="5120640"/>
            <a:ext cx="3314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12718" y="5120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47158" y="5120640"/>
            <a:ext cx="3314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78628" y="5120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13068" y="5120640"/>
            <a:ext cx="3314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4538" y="5120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78978" y="5120640"/>
            <a:ext cx="3314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10448" y="5120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5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FC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1341</Words>
  <Application>Microsoft Office PowerPoint</Application>
  <PresentationFormat>Widescreen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Latheshkumar S</cp:lastModifiedBy>
  <cp:revision>2</cp:revision>
  <dcterms:created xsi:type="dcterms:W3CDTF">2026-08-06T20:46:25Z</dcterms:created>
  <dcterms:modified xsi:type="dcterms:W3CDTF">2026-08-07T05:10:00Z</dcterms:modified>
</cp:coreProperties>
</file>